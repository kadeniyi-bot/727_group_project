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9"/>
  </p:notesMasterIdLst>
  <p:sldIdLst>
    <p:sldId id="256" r:id="rId2"/>
    <p:sldId id="259" r:id="rId3"/>
    <p:sldId id="264" r:id="rId4"/>
    <p:sldId id="261" r:id="rId5"/>
    <p:sldId id="262" r:id="rId6"/>
    <p:sldId id="265"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981"/>
    <p:restoredTop sz="94767"/>
  </p:normalViewPr>
  <p:slideViewPr>
    <p:cSldViewPr snapToGrid="0">
      <p:cViewPr varScale="1">
        <p:scale>
          <a:sx n="108" d="100"/>
          <a:sy n="108" d="100"/>
        </p:scale>
        <p:origin x="224"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3A576C-45D1-4080-A290-94267EA824BB}" type="doc">
      <dgm:prSet loTypeId="urn:microsoft.com/office/officeart/2018/2/layout/IconVerticalSolidList" loCatId="icon" qsTypeId="urn:microsoft.com/office/officeart/2005/8/quickstyle/simple1" qsCatId="simple" csTypeId="urn:microsoft.com/office/officeart/2005/8/colors/colorful2" csCatId="colorful" phldr="1"/>
      <dgm:spPr/>
      <dgm:t>
        <a:bodyPr/>
        <a:lstStyle/>
        <a:p>
          <a:endParaRPr lang="en-US"/>
        </a:p>
      </dgm:t>
    </dgm:pt>
    <dgm:pt modelId="{11DA3AED-12FC-45A1-B889-9AD52C7B6E32}">
      <dgm:prSet custT="1"/>
      <dgm:spPr/>
      <dgm:t>
        <a:bodyPr/>
        <a:lstStyle/>
        <a:p>
          <a:pPr>
            <a:lnSpc>
              <a:spcPct val="100000"/>
            </a:lnSpc>
          </a:pPr>
          <a:r>
            <a:rPr lang="en-US" sz="2400" b="0" dirty="0">
              <a:latin typeface="Times New Roman" panose="02020603050405020304" pitchFamily="18" charset="0"/>
              <a:cs typeface="Times New Roman" panose="02020603050405020304" pitchFamily="18" charset="0"/>
            </a:rPr>
            <a:t>Which states were most frequently mentioned in CDC outbreak reporting?</a:t>
          </a:r>
        </a:p>
      </dgm:t>
    </dgm:pt>
    <dgm:pt modelId="{E2B17ADF-8C50-4AA2-A973-F8F8B44A4931}" type="parTrans" cxnId="{BD4CD943-462C-4D1E-AB90-721345FDEFC5}">
      <dgm:prSet/>
      <dgm:spPr/>
      <dgm:t>
        <a:bodyPr/>
        <a:lstStyle/>
        <a:p>
          <a:endParaRPr lang="en-US" sz="2400">
            <a:latin typeface="Times New Roman" panose="02020603050405020304" pitchFamily="18" charset="0"/>
            <a:cs typeface="Times New Roman" panose="02020603050405020304" pitchFamily="18" charset="0"/>
          </a:endParaRPr>
        </a:p>
      </dgm:t>
    </dgm:pt>
    <dgm:pt modelId="{6CE7DAE3-D484-474A-BA4D-6C31676124D1}" type="sibTrans" cxnId="{BD4CD943-462C-4D1E-AB90-721345FDEFC5}">
      <dgm:prSet/>
      <dgm:spPr/>
      <dgm:t>
        <a:bodyPr/>
        <a:lstStyle/>
        <a:p>
          <a:endParaRPr lang="en-US" sz="2400">
            <a:latin typeface="Times New Roman" panose="02020603050405020304" pitchFamily="18" charset="0"/>
            <a:cs typeface="Times New Roman" panose="02020603050405020304" pitchFamily="18" charset="0"/>
          </a:endParaRPr>
        </a:p>
      </dgm:t>
    </dgm:pt>
    <dgm:pt modelId="{555985C9-6D63-4A59-A9A5-DACBB17863EA}">
      <dgm:prSet custT="1"/>
      <dgm:spPr/>
      <dgm:t>
        <a:bodyPr/>
        <a:lstStyle/>
        <a:p>
          <a:pPr>
            <a:lnSpc>
              <a:spcPct val="100000"/>
            </a:lnSpc>
          </a:pPr>
          <a:r>
            <a:rPr lang="en-US" sz="2400" dirty="0">
              <a:latin typeface="Times New Roman" panose="02020603050405020304" pitchFamily="18" charset="0"/>
              <a:cs typeface="Times New Roman" panose="02020603050405020304" pitchFamily="18" charset="0"/>
            </a:rPr>
            <a:t>What themes appear in CDC measles outbreak narratives?</a:t>
          </a:r>
        </a:p>
      </dgm:t>
    </dgm:pt>
    <dgm:pt modelId="{FE14B9C2-F7F6-4777-AA04-6FE112C33FE4}" type="parTrans" cxnId="{CE8AB753-9FC6-496A-9311-1873D88EF105}">
      <dgm:prSet/>
      <dgm:spPr/>
      <dgm:t>
        <a:bodyPr/>
        <a:lstStyle/>
        <a:p>
          <a:endParaRPr lang="en-US" sz="2400">
            <a:latin typeface="Times New Roman" panose="02020603050405020304" pitchFamily="18" charset="0"/>
            <a:cs typeface="Times New Roman" panose="02020603050405020304" pitchFamily="18" charset="0"/>
          </a:endParaRPr>
        </a:p>
      </dgm:t>
    </dgm:pt>
    <dgm:pt modelId="{31BC8A41-A111-4AFC-A572-AB68510E940F}" type="sibTrans" cxnId="{CE8AB753-9FC6-496A-9311-1873D88EF105}">
      <dgm:prSet/>
      <dgm:spPr/>
      <dgm:t>
        <a:bodyPr/>
        <a:lstStyle/>
        <a:p>
          <a:endParaRPr lang="en-US" sz="2400">
            <a:latin typeface="Times New Roman" panose="02020603050405020304" pitchFamily="18" charset="0"/>
            <a:cs typeface="Times New Roman" panose="02020603050405020304" pitchFamily="18" charset="0"/>
          </a:endParaRPr>
        </a:p>
      </dgm:t>
    </dgm:pt>
    <dgm:pt modelId="{757F4B03-1ECA-4407-B72D-29B39EAF35F8}">
      <dgm:prSet custT="1"/>
      <dgm:spPr/>
      <dgm:t>
        <a:bodyPr/>
        <a:lstStyle/>
        <a:p>
          <a:pPr>
            <a:lnSpc>
              <a:spcPct val="100000"/>
            </a:lnSpc>
          </a:pPr>
          <a:r>
            <a:rPr lang="en-US" sz="2400" dirty="0">
              <a:latin typeface="Times New Roman" panose="02020603050405020304" pitchFamily="18" charset="0"/>
              <a:cs typeface="Times New Roman" panose="02020603050405020304" pitchFamily="18" charset="0"/>
            </a:rPr>
            <a:t>Is there an association between demographics and outbreak mention patterns?</a:t>
          </a:r>
        </a:p>
      </dgm:t>
    </dgm:pt>
    <dgm:pt modelId="{BCD09589-4F12-40CF-A66F-985905B58C13}" type="parTrans" cxnId="{2D865C68-5BCD-41C7-BD01-8BF4199698B0}">
      <dgm:prSet/>
      <dgm:spPr/>
      <dgm:t>
        <a:bodyPr/>
        <a:lstStyle/>
        <a:p>
          <a:endParaRPr lang="en-US" sz="2400">
            <a:latin typeface="Times New Roman" panose="02020603050405020304" pitchFamily="18" charset="0"/>
            <a:cs typeface="Times New Roman" panose="02020603050405020304" pitchFamily="18" charset="0"/>
          </a:endParaRPr>
        </a:p>
      </dgm:t>
    </dgm:pt>
    <dgm:pt modelId="{C8439522-464A-43D6-BA08-9798664E67A9}" type="sibTrans" cxnId="{2D865C68-5BCD-41C7-BD01-8BF4199698B0}">
      <dgm:prSet/>
      <dgm:spPr/>
      <dgm:t>
        <a:bodyPr/>
        <a:lstStyle/>
        <a:p>
          <a:endParaRPr lang="en-US" sz="2400">
            <a:latin typeface="Times New Roman" panose="02020603050405020304" pitchFamily="18" charset="0"/>
            <a:cs typeface="Times New Roman" panose="02020603050405020304" pitchFamily="18" charset="0"/>
          </a:endParaRPr>
        </a:p>
      </dgm:t>
    </dgm:pt>
    <dgm:pt modelId="{AFA87CD9-0A46-4F15-A2A4-838F9F8EE158}" type="pres">
      <dgm:prSet presAssocID="{313A576C-45D1-4080-A290-94267EA824BB}" presName="root" presStyleCnt="0">
        <dgm:presLayoutVars>
          <dgm:dir/>
          <dgm:resizeHandles val="exact"/>
        </dgm:presLayoutVars>
      </dgm:prSet>
      <dgm:spPr/>
    </dgm:pt>
    <dgm:pt modelId="{8FAAE317-D2BB-41A4-8E3C-8D88A0BC0827}" type="pres">
      <dgm:prSet presAssocID="{11DA3AED-12FC-45A1-B889-9AD52C7B6E32}" presName="compNode" presStyleCnt="0"/>
      <dgm:spPr/>
    </dgm:pt>
    <dgm:pt modelId="{5D6809F1-84EF-48E3-B2AA-4EF18B492011}" type="pres">
      <dgm:prSet presAssocID="{11DA3AED-12FC-45A1-B889-9AD52C7B6E32}" presName="bgRect" presStyleLbl="bgShp" presStyleIdx="0" presStyleCnt="3"/>
      <dgm:spPr/>
    </dgm:pt>
    <dgm:pt modelId="{C4650936-0A2C-42F1-A318-B0CD15491254}" type="pres">
      <dgm:prSet presAssocID="{11DA3AED-12FC-45A1-B889-9AD52C7B6E3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Ambulance"/>
        </a:ext>
      </dgm:extLst>
    </dgm:pt>
    <dgm:pt modelId="{59B10595-722A-49D2-B03A-A235065C6FC2}" type="pres">
      <dgm:prSet presAssocID="{11DA3AED-12FC-45A1-B889-9AD52C7B6E32}" presName="spaceRect" presStyleCnt="0"/>
      <dgm:spPr/>
    </dgm:pt>
    <dgm:pt modelId="{FB5CD911-9B2B-459E-8A7D-6820F4D6903A}" type="pres">
      <dgm:prSet presAssocID="{11DA3AED-12FC-45A1-B889-9AD52C7B6E32}" presName="parTx" presStyleLbl="revTx" presStyleIdx="0" presStyleCnt="3">
        <dgm:presLayoutVars>
          <dgm:chMax val="0"/>
          <dgm:chPref val="0"/>
        </dgm:presLayoutVars>
      </dgm:prSet>
      <dgm:spPr/>
    </dgm:pt>
    <dgm:pt modelId="{F19870FC-609C-4062-94DC-B838CC74D394}" type="pres">
      <dgm:prSet presAssocID="{6CE7DAE3-D484-474A-BA4D-6C31676124D1}" presName="sibTrans" presStyleCnt="0"/>
      <dgm:spPr/>
    </dgm:pt>
    <dgm:pt modelId="{C0FC9EB8-6D12-40C2-A269-C880AA505E5A}" type="pres">
      <dgm:prSet presAssocID="{555985C9-6D63-4A59-A9A5-DACBB17863EA}" presName="compNode" presStyleCnt="0"/>
      <dgm:spPr/>
    </dgm:pt>
    <dgm:pt modelId="{5A4C293F-6B21-45DB-9844-6EE1350167E8}" type="pres">
      <dgm:prSet presAssocID="{555985C9-6D63-4A59-A9A5-DACBB17863EA}" presName="bgRect" presStyleLbl="bgShp" presStyleIdx="1" presStyleCnt="3"/>
      <dgm:spPr/>
    </dgm:pt>
    <dgm:pt modelId="{1F3C65DE-E37C-4189-A716-F36DA9BC9ECB}" type="pres">
      <dgm:prSet presAssocID="{555985C9-6D63-4A59-A9A5-DACBB17863E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Needle"/>
        </a:ext>
      </dgm:extLst>
    </dgm:pt>
    <dgm:pt modelId="{E8EA6465-7B37-46DD-8465-3C1CD5BACA03}" type="pres">
      <dgm:prSet presAssocID="{555985C9-6D63-4A59-A9A5-DACBB17863EA}" presName="spaceRect" presStyleCnt="0"/>
      <dgm:spPr/>
    </dgm:pt>
    <dgm:pt modelId="{E6670AEF-C343-4FDB-9A7E-4325A701A170}" type="pres">
      <dgm:prSet presAssocID="{555985C9-6D63-4A59-A9A5-DACBB17863EA}" presName="parTx" presStyleLbl="revTx" presStyleIdx="1" presStyleCnt="3">
        <dgm:presLayoutVars>
          <dgm:chMax val="0"/>
          <dgm:chPref val="0"/>
        </dgm:presLayoutVars>
      </dgm:prSet>
      <dgm:spPr/>
    </dgm:pt>
    <dgm:pt modelId="{B23524CF-BD5F-4387-BF9F-E6F53A87C7A3}" type="pres">
      <dgm:prSet presAssocID="{31BC8A41-A111-4AFC-A572-AB68510E940F}" presName="sibTrans" presStyleCnt="0"/>
      <dgm:spPr/>
    </dgm:pt>
    <dgm:pt modelId="{33A4CE83-DAEB-4AC0-B0A7-C366CDA145BB}" type="pres">
      <dgm:prSet presAssocID="{757F4B03-1ECA-4407-B72D-29B39EAF35F8}" presName="compNode" presStyleCnt="0"/>
      <dgm:spPr/>
    </dgm:pt>
    <dgm:pt modelId="{274A97D6-A49F-40FE-AC4E-5ADE8BF3C05A}" type="pres">
      <dgm:prSet presAssocID="{757F4B03-1ECA-4407-B72D-29B39EAF35F8}" presName="bgRect" presStyleLbl="bgShp" presStyleIdx="2" presStyleCnt="3"/>
      <dgm:spPr/>
    </dgm:pt>
    <dgm:pt modelId="{EBF027B4-14E9-43AD-81B8-8687E20F92E0}" type="pres">
      <dgm:prSet presAssocID="{757F4B03-1ECA-4407-B72D-29B39EAF35F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arget Audience"/>
        </a:ext>
      </dgm:extLst>
    </dgm:pt>
    <dgm:pt modelId="{9AD2AACC-5ABF-467F-9EFE-37F8169CC92A}" type="pres">
      <dgm:prSet presAssocID="{757F4B03-1ECA-4407-B72D-29B39EAF35F8}" presName="spaceRect" presStyleCnt="0"/>
      <dgm:spPr/>
    </dgm:pt>
    <dgm:pt modelId="{C1B2DF27-96EF-4D36-BAB0-B735361608F7}" type="pres">
      <dgm:prSet presAssocID="{757F4B03-1ECA-4407-B72D-29B39EAF35F8}" presName="parTx" presStyleLbl="revTx" presStyleIdx="2" presStyleCnt="3">
        <dgm:presLayoutVars>
          <dgm:chMax val="0"/>
          <dgm:chPref val="0"/>
        </dgm:presLayoutVars>
      </dgm:prSet>
      <dgm:spPr/>
    </dgm:pt>
  </dgm:ptLst>
  <dgm:cxnLst>
    <dgm:cxn modelId="{BD4CD943-462C-4D1E-AB90-721345FDEFC5}" srcId="{313A576C-45D1-4080-A290-94267EA824BB}" destId="{11DA3AED-12FC-45A1-B889-9AD52C7B6E32}" srcOrd="0" destOrd="0" parTransId="{E2B17ADF-8C50-4AA2-A973-F8F8B44A4931}" sibTransId="{6CE7DAE3-D484-474A-BA4D-6C31676124D1}"/>
    <dgm:cxn modelId="{CE8AB753-9FC6-496A-9311-1873D88EF105}" srcId="{313A576C-45D1-4080-A290-94267EA824BB}" destId="{555985C9-6D63-4A59-A9A5-DACBB17863EA}" srcOrd="1" destOrd="0" parTransId="{FE14B9C2-F7F6-4777-AA04-6FE112C33FE4}" sibTransId="{31BC8A41-A111-4AFC-A572-AB68510E940F}"/>
    <dgm:cxn modelId="{2D865C68-5BCD-41C7-BD01-8BF4199698B0}" srcId="{313A576C-45D1-4080-A290-94267EA824BB}" destId="{757F4B03-1ECA-4407-B72D-29B39EAF35F8}" srcOrd="2" destOrd="0" parTransId="{BCD09589-4F12-40CF-A66F-985905B58C13}" sibTransId="{C8439522-464A-43D6-BA08-9798664E67A9}"/>
    <dgm:cxn modelId="{CA188A74-06FC-9C44-8ECE-EBB120E75655}" type="presOf" srcId="{555985C9-6D63-4A59-A9A5-DACBB17863EA}" destId="{E6670AEF-C343-4FDB-9A7E-4325A701A170}" srcOrd="0" destOrd="0" presId="urn:microsoft.com/office/officeart/2018/2/layout/IconVerticalSolidList"/>
    <dgm:cxn modelId="{F34196A1-3DF1-D648-B0D1-F84B3FDFB2C9}" type="presOf" srcId="{313A576C-45D1-4080-A290-94267EA824BB}" destId="{AFA87CD9-0A46-4F15-A2A4-838F9F8EE158}" srcOrd="0" destOrd="0" presId="urn:microsoft.com/office/officeart/2018/2/layout/IconVerticalSolidList"/>
    <dgm:cxn modelId="{B59F7CA2-8FB3-BB4C-9C19-68E97EDB6DD4}" type="presOf" srcId="{11DA3AED-12FC-45A1-B889-9AD52C7B6E32}" destId="{FB5CD911-9B2B-459E-8A7D-6820F4D6903A}" srcOrd="0" destOrd="0" presId="urn:microsoft.com/office/officeart/2018/2/layout/IconVerticalSolidList"/>
    <dgm:cxn modelId="{7058F6C3-20BF-584F-9DB1-FC9D4B128C41}" type="presOf" srcId="{757F4B03-1ECA-4407-B72D-29B39EAF35F8}" destId="{C1B2DF27-96EF-4D36-BAB0-B735361608F7}" srcOrd="0" destOrd="0" presId="urn:microsoft.com/office/officeart/2018/2/layout/IconVerticalSolidList"/>
    <dgm:cxn modelId="{7BAA4216-8DF3-F149-BF25-501C219016AD}" type="presParOf" srcId="{AFA87CD9-0A46-4F15-A2A4-838F9F8EE158}" destId="{8FAAE317-D2BB-41A4-8E3C-8D88A0BC0827}" srcOrd="0" destOrd="0" presId="urn:microsoft.com/office/officeart/2018/2/layout/IconVerticalSolidList"/>
    <dgm:cxn modelId="{6A9D30BF-4EE7-E343-BDD8-07186E066613}" type="presParOf" srcId="{8FAAE317-D2BB-41A4-8E3C-8D88A0BC0827}" destId="{5D6809F1-84EF-48E3-B2AA-4EF18B492011}" srcOrd="0" destOrd="0" presId="urn:microsoft.com/office/officeart/2018/2/layout/IconVerticalSolidList"/>
    <dgm:cxn modelId="{D5ECC277-8B45-654F-BDFB-0B6CBFA4B1D4}" type="presParOf" srcId="{8FAAE317-D2BB-41A4-8E3C-8D88A0BC0827}" destId="{C4650936-0A2C-42F1-A318-B0CD15491254}" srcOrd="1" destOrd="0" presId="urn:microsoft.com/office/officeart/2018/2/layout/IconVerticalSolidList"/>
    <dgm:cxn modelId="{978248E8-8806-F442-AFFB-37CC02BD00D5}" type="presParOf" srcId="{8FAAE317-D2BB-41A4-8E3C-8D88A0BC0827}" destId="{59B10595-722A-49D2-B03A-A235065C6FC2}" srcOrd="2" destOrd="0" presId="urn:microsoft.com/office/officeart/2018/2/layout/IconVerticalSolidList"/>
    <dgm:cxn modelId="{03C5A749-5E5F-A646-BB0E-E5634592212F}" type="presParOf" srcId="{8FAAE317-D2BB-41A4-8E3C-8D88A0BC0827}" destId="{FB5CD911-9B2B-459E-8A7D-6820F4D6903A}" srcOrd="3" destOrd="0" presId="urn:microsoft.com/office/officeart/2018/2/layout/IconVerticalSolidList"/>
    <dgm:cxn modelId="{C700E4B9-21DD-DA4D-9821-CCBBA9D44DED}" type="presParOf" srcId="{AFA87CD9-0A46-4F15-A2A4-838F9F8EE158}" destId="{F19870FC-609C-4062-94DC-B838CC74D394}" srcOrd="1" destOrd="0" presId="urn:microsoft.com/office/officeart/2018/2/layout/IconVerticalSolidList"/>
    <dgm:cxn modelId="{0AEB0DFE-BCDC-514C-9D41-8790C510BC1D}" type="presParOf" srcId="{AFA87CD9-0A46-4F15-A2A4-838F9F8EE158}" destId="{C0FC9EB8-6D12-40C2-A269-C880AA505E5A}" srcOrd="2" destOrd="0" presId="urn:microsoft.com/office/officeart/2018/2/layout/IconVerticalSolidList"/>
    <dgm:cxn modelId="{74BECBB7-DA0D-044A-B894-95EA22C2BE10}" type="presParOf" srcId="{C0FC9EB8-6D12-40C2-A269-C880AA505E5A}" destId="{5A4C293F-6B21-45DB-9844-6EE1350167E8}" srcOrd="0" destOrd="0" presId="urn:microsoft.com/office/officeart/2018/2/layout/IconVerticalSolidList"/>
    <dgm:cxn modelId="{B0BBD3A6-2A03-9245-A949-C00BBC80753D}" type="presParOf" srcId="{C0FC9EB8-6D12-40C2-A269-C880AA505E5A}" destId="{1F3C65DE-E37C-4189-A716-F36DA9BC9ECB}" srcOrd="1" destOrd="0" presId="urn:microsoft.com/office/officeart/2018/2/layout/IconVerticalSolidList"/>
    <dgm:cxn modelId="{2C35A3CF-574D-E94A-BCB8-7574381B7B28}" type="presParOf" srcId="{C0FC9EB8-6D12-40C2-A269-C880AA505E5A}" destId="{E8EA6465-7B37-46DD-8465-3C1CD5BACA03}" srcOrd="2" destOrd="0" presId="urn:microsoft.com/office/officeart/2018/2/layout/IconVerticalSolidList"/>
    <dgm:cxn modelId="{8AD4E29F-B5F5-DF40-8D0B-9E07A6946A09}" type="presParOf" srcId="{C0FC9EB8-6D12-40C2-A269-C880AA505E5A}" destId="{E6670AEF-C343-4FDB-9A7E-4325A701A170}" srcOrd="3" destOrd="0" presId="urn:microsoft.com/office/officeart/2018/2/layout/IconVerticalSolidList"/>
    <dgm:cxn modelId="{624BA869-8B2C-CF49-BCB6-18BB4F882A19}" type="presParOf" srcId="{AFA87CD9-0A46-4F15-A2A4-838F9F8EE158}" destId="{B23524CF-BD5F-4387-BF9F-E6F53A87C7A3}" srcOrd="3" destOrd="0" presId="urn:microsoft.com/office/officeart/2018/2/layout/IconVerticalSolidList"/>
    <dgm:cxn modelId="{44386302-4B71-2C4A-9194-D47064AA5F35}" type="presParOf" srcId="{AFA87CD9-0A46-4F15-A2A4-838F9F8EE158}" destId="{33A4CE83-DAEB-4AC0-B0A7-C366CDA145BB}" srcOrd="4" destOrd="0" presId="urn:microsoft.com/office/officeart/2018/2/layout/IconVerticalSolidList"/>
    <dgm:cxn modelId="{F257E2D7-452D-B947-98EF-22D5DDDB67FF}" type="presParOf" srcId="{33A4CE83-DAEB-4AC0-B0A7-C366CDA145BB}" destId="{274A97D6-A49F-40FE-AC4E-5ADE8BF3C05A}" srcOrd="0" destOrd="0" presId="urn:microsoft.com/office/officeart/2018/2/layout/IconVerticalSolidList"/>
    <dgm:cxn modelId="{910A638D-E3B9-5248-89BC-A44A38AD1591}" type="presParOf" srcId="{33A4CE83-DAEB-4AC0-B0A7-C366CDA145BB}" destId="{EBF027B4-14E9-43AD-81B8-8687E20F92E0}" srcOrd="1" destOrd="0" presId="urn:microsoft.com/office/officeart/2018/2/layout/IconVerticalSolidList"/>
    <dgm:cxn modelId="{67319784-6B36-7D49-A70B-CA9FE99D302B}" type="presParOf" srcId="{33A4CE83-DAEB-4AC0-B0A7-C366CDA145BB}" destId="{9AD2AACC-5ABF-467F-9EFE-37F8169CC92A}" srcOrd="2" destOrd="0" presId="urn:microsoft.com/office/officeart/2018/2/layout/IconVerticalSolidList"/>
    <dgm:cxn modelId="{BAAFFB0B-225C-9A40-9E5F-72F38E45EF8B}" type="presParOf" srcId="{33A4CE83-DAEB-4AC0-B0A7-C366CDA145BB}" destId="{C1B2DF27-96EF-4D36-BAB0-B735361608F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6809F1-84EF-48E3-B2AA-4EF18B492011}">
      <dsp:nvSpPr>
        <dsp:cNvPr id="0" name=""/>
        <dsp:cNvSpPr/>
      </dsp:nvSpPr>
      <dsp:spPr>
        <a:xfrm>
          <a:off x="0" y="528"/>
          <a:ext cx="10629899" cy="123631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650936-0A2C-42F1-A318-B0CD15491254}">
      <dsp:nvSpPr>
        <dsp:cNvPr id="0" name=""/>
        <dsp:cNvSpPr/>
      </dsp:nvSpPr>
      <dsp:spPr>
        <a:xfrm>
          <a:off x="373984" y="278698"/>
          <a:ext cx="679972" cy="67997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5CD911-9B2B-459E-8A7D-6820F4D6903A}">
      <dsp:nvSpPr>
        <dsp:cNvPr id="0" name=""/>
        <dsp:cNvSpPr/>
      </dsp:nvSpPr>
      <dsp:spPr>
        <a:xfrm>
          <a:off x="1427942" y="528"/>
          <a:ext cx="9201957" cy="1236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43" tIns="130843" rIns="130843" bIns="130843" numCol="1" spcCol="1270" anchor="ctr" anchorCtr="0">
          <a:noAutofit/>
        </a:bodyPr>
        <a:lstStyle/>
        <a:p>
          <a:pPr marL="0" lvl="0" indent="0" algn="l" defTabSz="1066800">
            <a:lnSpc>
              <a:spcPct val="100000"/>
            </a:lnSpc>
            <a:spcBef>
              <a:spcPct val="0"/>
            </a:spcBef>
            <a:spcAft>
              <a:spcPct val="35000"/>
            </a:spcAft>
            <a:buNone/>
          </a:pPr>
          <a:r>
            <a:rPr lang="en-US" sz="2400" b="0" kern="1200" dirty="0">
              <a:latin typeface="Times New Roman" panose="02020603050405020304" pitchFamily="18" charset="0"/>
              <a:cs typeface="Times New Roman" panose="02020603050405020304" pitchFamily="18" charset="0"/>
            </a:rPr>
            <a:t>Which states were most frequently mentioned in CDC outbreak reporting?</a:t>
          </a:r>
        </a:p>
      </dsp:txBody>
      <dsp:txXfrm>
        <a:off x="1427942" y="528"/>
        <a:ext cx="9201957" cy="1236313"/>
      </dsp:txXfrm>
    </dsp:sp>
    <dsp:sp modelId="{5A4C293F-6B21-45DB-9844-6EE1350167E8}">
      <dsp:nvSpPr>
        <dsp:cNvPr id="0" name=""/>
        <dsp:cNvSpPr/>
      </dsp:nvSpPr>
      <dsp:spPr>
        <a:xfrm>
          <a:off x="0" y="1545920"/>
          <a:ext cx="10629899" cy="123631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3C65DE-E37C-4189-A716-F36DA9BC9ECB}">
      <dsp:nvSpPr>
        <dsp:cNvPr id="0" name=""/>
        <dsp:cNvSpPr/>
      </dsp:nvSpPr>
      <dsp:spPr>
        <a:xfrm>
          <a:off x="373984" y="1824090"/>
          <a:ext cx="679972" cy="67997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670AEF-C343-4FDB-9A7E-4325A701A170}">
      <dsp:nvSpPr>
        <dsp:cNvPr id="0" name=""/>
        <dsp:cNvSpPr/>
      </dsp:nvSpPr>
      <dsp:spPr>
        <a:xfrm>
          <a:off x="1427942" y="1545920"/>
          <a:ext cx="9201957" cy="1236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43" tIns="130843" rIns="130843" bIns="130843" numCol="1" spcCol="1270" anchor="ctr" anchorCtr="0">
          <a:noAutofit/>
        </a:bodyPr>
        <a:lstStyle/>
        <a:p>
          <a:pPr marL="0" lvl="0" indent="0" algn="l" defTabSz="1066800">
            <a:lnSpc>
              <a:spcPct val="10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What themes appear in CDC measles outbreak narratives?</a:t>
          </a:r>
        </a:p>
      </dsp:txBody>
      <dsp:txXfrm>
        <a:off x="1427942" y="1545920"/>
        <a:ext cx="9201957" cy="1236313"/>
      </dsp:txXfrm>
    </dsp:sp>
    <dsp:sp modelId="{274A97D6-A49F-40FE-AC4E-5ADE8BF3C05A}">
      <dsp:nvSpPr>
        <dsp:cNvPr id="0" name=""/>
        <dsp:cNvSpPr/>
      </dsp:nvSpPr>
      <dsp:spPr>
        <a:xfrm>
          <a:off x="0" y="3091312"/>
          <a:ext cx="10629899" cy="123631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BF027B4-14E9-43AD-81B8-8687E20F92E0}">
      <dsp:nvSpPr>
        <dsp:cNvPr id="0" name=""/>
        <dsp:cNvSpPr/>
      </dsp:nvSpPr>
      <dsp:spPr>
        <a:xfrm>
          <a:off x="373984" y="3369482"/>
          <a:ext cx="679972" cy="67997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B2DF27-96EF-4D36-BAB0-B735361608F7}">
      <dsp:nvSpPr>
        <dsp:cNvPr id="0" name=""/>
        <dsp:cNvSpPr/>
      </dsp:nvSpPr>
      <dsp:spPr>
        <a:xfrm>
          <a:off x="1427942" y="3091312"/>
          <a:ext cx="9201957" cy="1236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0843" tIns="130843" rIns="130843" bIns="130843" numCol="1" spcCol="1270" anchor="ctr" anchorCtr="0">
          <a:noAutofit/>
        </a:bodyPr>
        <a:lstStyle/>
        <a:p>
          <a:pPr marL="0" lvl="0" indent="0" algn="l" defTabSz="1066800">
            <a:lnSpc>
              <a:spcPct val="100000"/>
            </a:lnSpc>
            <a:spcBef>
              <a:spcPct val="0"/>
            </a:spcBef>
            <a:spcAft>
              <a:spcPct val="35000"/>
            </a:spcAft>
            <a:buNone/>
          </a:pPr>
          <a:r>
            <a:rPr lang="en-US" sz="2400" kern="1200" dirty="0">
              <a:latin typeface="Times New Roman" panose="02020603050405020304" pitchFamily="18" charset="0"/>
              <a:cs typeface="Times New Roman" panose="02020603050405020304" pitchFamily="18" charset="0"/>
            </a:rPr>
            <a:t>Is there an association between demographics and outbreak mention patterns?</a:t>
          </a:r>
        </a:p>
      </dsp:txBody>
      <dsp:txXfrm>
        <a:off x="1427942" y="3091312"/>
        <a:ext cx="9201957" cy="123631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99C498-B4C7-D944-AE8B-AA1184FFD587}" type="datetimeFigureOut">
              <a:rPr lang="en-US" smtClean="0"/>
              <a:t>12/2/25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A373E9-1B92-B341-A1CD-793064EEDE52}" type="slidenum">
              <a:rPr lang="en-US" smtClean="0"/>
              <a:t>‹#›</a:t>
            </a:fld>
            <a:endParaRPr lang="en-US" dirty="0"/>
          </a:p>
        </p:txBody>
      </p:sp>
    </p:spTree>
    <p:extLst>
      <p:ext uri="{BB962C8B-B14F-4D97-AF65-F5344CB8AC3E}">
        <p14:creationId xmlns:p14="http://schemas.microsoft.com/office/powerpoint/2010/main" val="28229848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12/2/25</a:t>
            </a:fld>
            <a:endParaRPr lang="en-US" dirty="0"/>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2945759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12/2/25</a:t>
            </a:fld>
            <a:endParaRPr lang="en-US" dirty="0"/>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3529983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12/2/25</a:t>
            </a:fld>
            <a:endParaRPr lang="en-US" dirty="0"/>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12788413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12/2/25</a:t>
            </a:fld>
            <a:endParaRPr lang="en-US" dirty="0"/>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2790727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12/2/25</a:t>
            </a:fld>
            <a:endParaRPr lang="en-US" dirty="0"/>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819300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12/2/25</a:t>
            </a:fld>
            <a:endParaRPr lang="en-US" dirty="0"/>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1597836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12/2/25</a:t>
            </a:fld>
            <a:endParaRPr lang="en-US" dirty="0"/>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3511116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12/2/25</a:t>
            </a:fld>
            <a:endParaRPr lang="en-US" dirty="0"/>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5959046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12/2/25</a:t>
            </a:fld>
            <a:endParaRPr lang="en-US" dirty="0"/>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871758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12/2/25</a:t>
            </a:fld>
            <a:endParaRPr lang="en-US" dirty="0"/>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1546260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12/2/25</a:t>
            </a:fld>
            <a:endParaRPr lang="en-US" dirty="0"/>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dirty="0"/>
          </a:p>
        </p:txBody>
      </p:sp>
    </p:spTree>
    <p:extLst>
      <p:ext uri="{BB962C8B-B14F-4D97-AF65-F5344CB8AC3E}">
        <p14:creationId xmlns:p14="http://schemas.microsoft.com/office/powerpoint/2010/main" val="34221128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12/2/25</a:t>
            </a:fld>
            <a:endParaRPr lang="en-US" dirty="0"/>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dirty="0"/>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9323029"/>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49" name="Straight Connector 4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53" name="Rectangle 52">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0" descr="An abstract genetic concept">
            <a:extLst>
              <a:ext uri="{FF2B5EF4-FFF2-40B4-BE49-F238E27FC236}">
                <a16:creationId xmlns:a16="http://schemas.microsoft.com/office/drawing/2014/main" id="{85783AC4-C7CE-E5E3-5F28-EA69E3D741A4}"/>
              </a:ext>
            </a:extLst>
          </p:cNvPr>
          <p:cNvPicPr>
            <a:picLocks noChangeAspect="1"/>
          </p:cNvPicPr>
          <p:nvPr/>
        </p:nvPicPr>
        <p:blipFill>
          <a:blip r:embed="rId2"/>
          <a:srcRect l="17319" r="10843"/>
          <a:stretch/>
        </p:blipFill>
        <p:spPr>
          <a:xfrm>
            <a:off x="7580376" y="731520"/>
            <a:ext cx="3895344" cy="5422392"/>
          </a:xfrm>
          <a:prstGeom prst="rect">
            <a:avLst/>
          </a:prstGeom>
        </p:spPr>
      </p:pic>
      <p:sp>
        <p:nvSpPr>
          <p:cNvPr id="2" name="Title 1">
            <a:extLst>
              <a:ext uri="{FF2B5EF4-FFF2-40B4-BE49-F238E27FC236}">
                <a16:creationId xmlns:a16="http://schemas.microsoft.com/office/drawing/2014/main" id="{F89292AF-D6C3-8C47-3A7A-F7F8DED619AA}"/>
              </a:ext>
            </a:extLst>
          </p:cNvPr>
          <p:cNvSpPr>
            <a:spLocks noGrp="1"/>
          </p:cNvSpPr>
          <p:nvPr>
            <p:ph type="title"/>
          </p:nvPr>
        </p:nvSpPr>
        <p:spPr>
          <a:xfrm>
            <a:off x="173620" y="914399"/>
            <a:ext cx="7258647" cy="2037133"/>
          </a:xfrm>
        </p:spPr>
        <p:txBody>
          <a:bodyPr vert="horz" lIns="91440" tIns="45720" rIns="91440" bIns="45720" rtlCol="0" anchor="t">
            <a:noAutofit/>
          </a:bodyPr>
          <a:lstStyle/>
          <a:p>
            <a:pPr algn="ctr">
              <a:lnSpc>
                <a:spcPct val="90000"/>
              </a:lnSpc>
            </a:pPr>
            <a:r>
              <a:rPr lang="en-US" sz="2100" b="1" dirty="0">
                <a:latin typeface="Times New Roman" panose="02020603050405020304" pitchFamily="18" charset="0"/>
                <a:cs typeface="Times New Roman" panose="02020603050405020304" pitchFamily="18" charset="0"/>
              </a:rPr>
              <a:t>A Text-Based Analysis of Measles Outbreak</a:t>
            </a:r>
            <a:br>
              <a:rPr lang="en-US" sz="2100" b="1" dirty="0">
                <a:latin typeface="Times New Roman" panose="02020603050405020304" pitchFamily="18" charset="0"/>
                <a:cs typeface="Times New Roman" panose="02020603050405020304" pitchFamily="18" charset="0"/>
              </a:rPr>
            </a:br>
            <a:r>
              <a:rPr lang="en-US" sz="2100" b="1" dirty="0">
                <a:latin typeface="Times New Roman" panose="02020603050405020304" pitchFamily="18" charset="0"/>
                <a:cs typeface="Times New Roman" panose="02020603050405020304" pitchFamily="18" charset="0"/>
              </a:rPr>
              <a:t>     Narratives iN CDC (Centers for Disease</a:t>
            </a:r>
            <a:br>
              <a:rPr lang="en-US" sz="2100" b="1" dirty="0">
                <a:latin typeface="Times New Roman" panose="02020603050405020304" pitchFamily="18" charset="0"/>
                <a:cs typeface="Times New Roman" panose="02020603050405020304" pitchFamily="18" charset="0"/>
              </a:rPr>
            </a:br>
            <a:r>
              <a:rPr lang="en-US" sz="2100" b="1" dirty="0">
                <a:latin typeface="Times New Roman" panose="02020603050405020304" pitchFamily="18" charset="0"/>
                <a:cs typeface="Times New Roman" panose="02020603050405020304" pitchFamily="18" charset="0"/>
              </a:rPr>
              <a:t>     Control and Prevention) Reports and Their Associations With State Demographic Patterns</a:t>
            </a:r>
          </a:p>
        </p:txBody>
      </p:sp>
      <p:cxnSp>
        <p:nvCxnSpPr>
          <p:cNvPr id="46" name="Straight Connector 45">
            <a:extLst>
              <a:ext uri="{FF2B5EF4-FFF2-40B4-BE49-F238E27FC236}">
                <a16:creationId xmlns:a16="http://schemas.microsoft.com/office/drawing/2014/main" id="{435C2BE7-B9D9-D49E-8A44-8DC5114D8B1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CBC30AA6-0441-A387-EB94-F1F0CCBB722E}"/>
              </a:ext>
            </a:extLst>
          </p:cNvPr>
          <p:cNvSpPr txBox="1"/>
          <p:nvPr/>
        </p:nvSpPr>
        <p:spPr>
          <a:xfrm>
            <a:off x="613458" y="5668572"/>
            <a:ext cx="6435523" cy="461665"/>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Jamila Sani and Kehinde Adeniyi</a:t>
            </a:r>
          </a:p>
        </p:txBody>
      </p:sp>
    </p:spTree>
    <p:extLst>
      <p:ext uri="{BB962C8B-B14F-4D97-AF65-F5344CB8AC3E}">
        <p14:creationId xmlns:p14="http://schemas.microsoft.com/office/powerpoint/2010/main" val="223633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41" name="Straight Connector 40">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45" name="Rectangle 44">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D71A06E-9D08-9DDB-2B50-AB7D78020E10}"/>
              </a:ext>
            </a:extLst>
          </p:cNvPr>
          <p:cNvSpPr>
            <a:spLocks noGrp="1"/>
          </p:cNvSpPr>
          <p:nvPr>
            <p:ph type="title"/>
          </p:nvPr>
        </p:nvSpPr>
        <p:spPr>
          <a:xfrm>
            <a:off x="704088" y="914400"/>
            <a:ext cx="10798176" cy="697225"/>
          </a:xfrm>
        </p:spPr>
        <p:txBody>
          <a:bodyPr vert="horz" lIns="91440" tIns="45720" rIns="91440" bIns="45720" rtlCol="0" anchor="t">
            <a:normAutofit/>
          </a:bodyPr>
          <a:lstStyle/>
          <a:p>
            <a:pPr algn="ctr"/>
            <a:r>
              <a:rPr lang="en-US" sz="2400" b="1"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QUESTIONS</a:t>
            </a:r>
          </a:p>
        </p:txBody>
      </p:sp>
      <p:cxnSp>
        <p:nvCxnSpPr>
          <p:cNvPr id="47" name="Straight Connector 46">
            <a:extLst>
              <a:ext uri="{FF2B5EF4-FFF2-40B4-BE49-F238E27FC236}">
                <a16:creationId xmlns:a16="http://schemas.microsoft.com/office/drawing/2014/main" id="{9BB96FAB-CCBF-4D1E-9D0D-B038ACC29BD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6" name="TextBox 3">
            <a:extLst>
              <a:ext uri="{FF2B5EF4-FFF2-40B4-BE49-F238E27FC236}">
                <a16:creationId xmlns:a16="http://schemas.microsoft.com/office/drawing/2014/main" id="{380E12E6-0905-8422-8C14-6150171A6F24}"/>
              </a:ext>
            </a:extLst>
          </p:cNvPr>
          <p:cNvGraphicFramePr/>
          <p:nvPr>
            <p:extLst>
              <p:ext uri="{D42A27DB-BD31-4B8C-83A1-F6EECF244321}">
                <p14:modId xmlns:p14="http://schemas.microsoft.com/office/powerpoint/2010/main" val="3148619386"/>
              </p:ext>
            </p:extLst>
          </p:nvPr>
        </p:nvGraphicFramePr>
        <p:xfrm>
          <a:off x="800100" y="1805946"/>
          <a:ext cx="10629900" cy="43281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1969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D1960-EBE3-950F-304B-6A3F102232DF}"/>
              </a:ext>
            </a:extLst>
          </p:cNvPr>
          <p:cNvSpPr>
            <a:spLocks noGrp="1"/>
          </p:cNvSpPr>
          <p:nvPr>
            <p:ph type="title"/>
          </p:nvPr>
        </p:nvSpPr>
        <p:spPr>
          <a:xfrm>
            <a:off x="700635" y="914400"/>
            <a:ext cx="10691265" cy="811532"/>
          </a:xfrm>
        </p:spPr>
        <p:txBody>
          <a:bodyPr>
            <a:normAutofit/>
          </a:bodyPr>
          <a:lstStyle/>
          <a:p>
            <a:pPr algn="ctr"/>
            <a:r>
              <a:rPr lang="en-US" sz="2600" b="1" dirty="0">
                <a:latin typeface="Times New Roman" panose="02020603050405020304" pitchFamily="18" charset="0"/>
                <a:cs typeface="Times New Roman" panose="02020603050405020304" pitchFamily="18" charset="0"/>
              </a:rPr>
              <a:t>METHODOLOGY</a:t>
            </a:r>
            <a:r>
              <a:rPr lang="en-US" sz="2400" b="1" dirty="0">
                <a:latin typeface="Times New Roman" panose="02020603050405020304" pitchFamily="18" charset="0"/>
                <a:cs typeface="Times New Roman" panose="02020603050405020304" pitchFamily="18" charset="0"/>
              </a:rPr>
              <a:t> AND ANALYSIS</a:t>
            </a:r>
          </a:p>
        </p:txBody>
      </p:sp>
      <p:sp>
        <p:nvSpPr>
          <p:cNvPr id="5" name="TextBox 4">
            <a:extLst>
              <a:ext uri="{FF2B5EF4-FFF2-40B4-BE49-F238E27FC236}">
                <a16:creationId xmlns:a16="http://schemas.microsoft.com/office/drawing/2014/main" id="{9EA2549C-A2C3-7B84-0EF1-CDE74B3C4E57}"/>
              </a:ext>
            </a:extLst>
          </p:cNvPr>
          <p:cNvSpPr txBox="1"/>
          <p:nvPr/>
        </p:nvSpPr>
        <p:spPr>
          <a:xfrm>
            <a:off x="700635" y="1725932"/>
            <a:ext cx="10691265" cy="4235956"/>
          </a:xfrm>
          <a:prstGeom prst="rect">
            <a:avLst/>
          </a:prstGeom>
        </p:spPr>
        <p:txBody>
          <a:bodyPr vert="horz" lIns="91440" tIns="45720" rIns="91440" bIns="45720" rtlCol="0">
            <a:normAutofit/>
          </a:bodyPr>
          <a:lstStyle/>
          <a:p>
            <a:pPr marL="285750" lvl="0" indent="-285750">
              <a:lnSpc>
                <a:spcPct val="11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sources: CDC web pages and ACS (American Community Survey) API</a:t>
            </a:r>
          </a:p>
          <a:p>
            <a:pPr marL="285750" lvl="0" indent="-285750">
              <a:lnSpc>
                <a:spcPct val="11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CDC measles outbreak text from web scraping and the ACS demographics (education and state population)</a:t>
            </a:r>
          </a:p>
          <a:p>
            <a:pPr marL="285750" lvl="0" indent="-285750">
              <a:lnSpc>
                <a:spcPct val="11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Methods: Text analysis techniques - keyword frequency and topic modeling</a:t>
            </a:r>
          </a:p>
          <a:p>
            <a:pPr marL="285750" lvl="0" indent="-285750">
              <a:lnSpc>
                <a:spcPct val="110000"/>
              </a:lnSpc>
              <a:spcAft>
                <a:spcPts val="600"/>
              </a:spcAf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Visualization: Bar graphs and scatter plots using ggplot2</a:t>
            </a:r>
          </a:p>
          <a:p>
            <a:pPr marL="285750" lvl="0" indent="-285750">
              <a:lnSpc>
                <a:spcPct val="110000"/>
              </a:lnSpc>
              <a:spcAft>
                <a:spcPts val="600"/>
              </a:spcAf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9471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2E60D-8831-B3CD-1497-F4AF8B08BC8F}"/>
              </a:ext>
            </a:extLst>
          </p:cNvPr>
          <p:cNvSpPr>
            <a:spLocks noGrp="1"/>
          </p:cNvSpPr>
          <p:nvPr>
            <p:ph type="title"/>
          </p:nvPr>
        </p:nvSpPr>
        <p:spPr/>
        <p:txBody>
          <a:bodyPr/>
          <a:lstStyle/>
          <a:p>
            <a:endParaRPr lang="en-US" dirty="0"/>
          </a:p>
        </p:txBody>
      </p:sp>
      <p:pic>
        <p:nvPicPr>
          <p:cNvPr id="3" name="Picture 1" descr="Presentation_Final_files/figure-pptx/unnamed-chunk-15-1.png">
            <a:extLst>
              <a:ext uri="{FF2B5EF4-FFF2-40B4-BE49-F238E27FC236}">
                <a16:creationId xmlns:a16="http://schemas.microsoft.com/office/drawing/2014/main" id="{3B3ECAAB-64C7-53B4-927A-C76AE3BDB33D}"/>
              </a:ext>
            </a:extLst>
          </p:cNvPr>
          <p:cNvPicPr>
            <a:picLocks noGrp="1" noChangeAspect="1"/>
          </p:cNvPicPr>
          <p:nvPr>
            <p:ph idx="1"/>
          </p:nvPr>
        </p:nvPicPr>
        <p:blipFill>
          <a:blip r:embed="rId2"/>
          <a:stretch>
            <a:fillRect/>
          </a:stretch>
        </p:blipFill>
        <p:spPr bwMode="auto">
          <a:xfrm>
            <a:off x="478971" y="667658"/>
            <a:ext cx="11205029" cy="5457372"/>
          </a:xfrm>
          <a:prstGeom prst="rect">
            <a:avLst/>
          </a:prstGeom>
          <a:noFill/>
          <a:ln w="9525">
            <a:noFill/>
            <a:headEnd/>
            <a:tailEnd/>
          </a:ln>
        </p:spPr>
      </p:pic>
    </p:spTree>
    <p:extLst>
      <p:ext uri="{BB962C8B-B14F-4D97-AF65-F5344CB8AC3E}">
        <p14:creationId xmlns:p14="http://schemas.microsoft.com/office/powerpoint/2010/main" val="3917408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39" name="Rectangle 38">
            <a:extLst>
              <a:ext uri="{FF2B5EF4-FFF2-40B4-BE49-F238E27FC236}">
                <a16:creationId xmlns:a16="http://schemas.microsoft.com/office/drawing/2014/main" id="{341BFA31-6544-45C2-9DA0-9E1C5E0B1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43AE62-1B6E-4CFA-A2B5-D9FD47ED6382}"/>
              </a:ext>
            </a:extLst>
          </p:cNvPr>
          <p:cNvSpPr>
            <a:spLocks noGrp="1"/>
          </p:cNvSpPr>
          <p:nvPr>
            <p:ph type="title"/>
          </p:nvPr>
        </p:nvSpPr>
        <p:spPr>
          <a:xfrm>
            <a:off x="647700" y="710109"/>
            <a:ext cx="10925176" cy="798646"/>
          </a:xfrm>
        </p:spPr>
        <p:txBody>
          <a:bodyPr vert="horz" lIns="91440" tIns="45720" rIns="91440" bIns="45720" rtlCol="0" anchor="t">
            <a:normAutofit/>
          </a:bodyPr>
          <a:lstStyle/>
          <a:p>
            <a:pPr algn="ct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OUTBREAK MENTIONS vs DEMOGRAPHICS</a:t>
            </a:r>
            <a:r>
              <a:rPr lang="en-US" sz="3200" b="1" dirty="0">
                <a:latin typeface="Times New Roman" panose="02020603050405020304" pitchFamily="18" charset="0"/>
                <a:cs typeface="Times New Roman" panose="02020603050405020304" pitchFamily="18" charset="0"/>
              </a:rPr>
              <a:t> </a:t>
            </a:r>
            <a:endParaRPr lang="en-US" sz="2800" b="1" dirty="0">
              <a:latin typeface="Times New Roman" panose="02020603050405020304" pitchFamily="18" charset="0"/>
              <a:cs typeface="Times New Roman" panose="02020603050405020304" pitchFamily="18" charset="0"/>
            </a:endParaRPr>
          </a:p>
        </p:txBody>
      </p:sp>
      <p:cxnSp>
        <p:nvCxnSpPr>
          <p:cNvPr id="41" name="Straight Connector 40">
            <a:extLst>
              <a:ext uri="{FF2B5EF4-FFF2-40B4-BE49-F238E27FC236}">
                <a16:creationId xmlns:a16="http://schemas.microsoft.com/office/drawing/2014/main" id="{DC36F877-5419-44C1-A2CD-376BDDDC3E4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Presentation_Final_files/figure-pptx/unnamed-chunk-17-1.png">
            <a:extLst>
              <a:ext uri="{FF2B5EF4-FFF2-40B4-BE49-F238E27FC236}">
                <a16:creationId xmlns:a16="http://schemas.microsoft.com/office/drawing/2014/main" id="{8E22CBC6-A80A-C146-35C2-550B1D3F143E}"/>
              </a:ext>
            </a:extLst>
          </p:cNvPr>
          <p:cNvPicPr>
            <a:picLocks noGrp="1" noChangeAspect="1"/>
          </p:cNvPicPr>
          <p:nvPr/>
        </p:nvPicPr>
        <p:blipFill>
          <a:blip r:embed="rId2"/>
          <a:stretch>
            <a:fillRect/>
          </a:stretch>
        </p:blipFill>
        <p:spPr bwMode="auto">
          <a:xfrm>
            <a:off x="391886" y="1691653"/>
            <a:ext cx="5493413" cy="4442448"/>
          </a:xfrm>
          <a:prstGeom prst="rect">
            <a:avLst/>
          </a:prstGeom>
          <a:noFill/>
        </p:spPr>
      </p:pic>
      <p:pic>
        <p:nvPicPr>
          <p:cNvPr id="3" name="Picture 2" descr="Presentation_Final_files/figure-pptx/unnamed-chunk-16-1.png">
            <a:extLst>
              <a:ext uri="{FF2B5EF4-FFF2-40B4-BE49-F238E27FC236}">
                <a16:creationId xmlns:a16="http://schemas.microsoft.com/office/drawing/2014/main" id="{423EFB9E-F767-8A3B-177F-1F8E5EF9F605}"/>
              </a:ext>
            </a:extLst>
          </p:cNvPr>
          <p:cNvPicPr>
            <a:picLocks noGrp="1" noChangeAspect="1"/>
          </p:cNvPicPr>
          <p:nvPr/>
        </p:nvPicPr>
        <p:blipFill>
          <a:blip r:embed="rId3"/>
          <a:stretch>
            <a:fillRect/>
          </a:stretch>
        </p:blipFill>
        <p:spPr bwMode="auto">
          <a:xfrm>
            <a:off x="6253514" y="1690935"/>
            <a:ext cx="5405086" cy="4462055"/>
          </a:xfrm>
          <a:prstGeom prst="rect">
            <a:avLst/>
          </a:prstGeom>
          <a:noFill/>
        </p:spPr>
      </p:pic>
      <p:cxnSp>
        <p:nvCxnSpPr>
          <p:cNvPr id="43" name="Straight Connector 42">
            <a:extLst>
              <a:ext uri="{FF2B5EF4-FFF2-40B4-BE49-F238E27FC236}">
                <a16:creationId xmlns:a16="http://schemas.microsoft.com/office/drawing/2014/main" id="{44B21692-652C-4371-95C5-05248EF342F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7890"/>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8555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2B02E-1EA2-A4E9-E586-BB351185DF37}"/>
              </a:ext>
            </a:extLst>
          </p:cNvPr>
          <p:cNvSpPr>
            <a:spLocks noGrp="1"/>
          </p:cNvSpPr>
          <p:nvPr>
            <p:ph type="title"/>
          </p:nvPr>
        </p:nvSpPr>
        <p:spPr>
          <a:xfrm>
            <a:off x="700634" y="753979"/>
            <a:ext cx="10691265" cy="705853"/>
          </a:xfrm>
        </p:spPr>
        <p:txBody>
          <a:bodyPr/>
          <a:lstStyle/>
          <a:p>
            <a:pPr algn="ctr"/>
            <a:r>
              <a:rPr lang="en-US" dirty="0"/>
              <a:t>Topic Modeling (output)</a:t>
            </a:r>
          </a:p>
        </p:txBody>
      </p:sp>
      <p:sp>
        <p:nvSpPr>
          <p:cNvPr id="3" name="Content Placeholder 2">
            <a:extLst>
              <a:ext uri="{FF2B5EF4-FFF2-40B4-BE49-F238E27FC236}">
                <a16:creationId xmlns:a16="http://schemas.microsoft.com/office/drawing/2014/main" id="{7E5BC2F2-2B17-3643-E2BD-77A487375EA7}"/>
              </a:ext>
            </a:extLst>
          </p:cNvPr>
          <p:cNvSpPr txBox="1">
            <a:spLocks/>
          </p:cNvSpPr>
          <p:nvPr/>
        </p:nvSpPr>
        <p:spPr>
          <a:xfrm>
            <a:off x="431135" y="1459832"/>
            <a:ext cx="4140868" cy="4674750"/>
          </a:xfrm>
          <a:prstGeom prst="rect">
            <a:avLst/>
          </a:prstGeom>
        </p:spPr>
        <p:txBody>
          <a:bodyP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buFont typeface="Arial" panose="020B0604020202020204" pitchFamily="34" charset="0"/>
              <a:buNone/>
            </a:pPr>
            <a:r>
              <a:rPr lang="en-US" sz="1800" b="1" dirty="0">
                <a:latin typeface="Courier"/>
              </a:rPr>
              <a:t>topic </a:t>
            </a:r>
            <a:r>
              <a:rPr lang="en-US" sz="1800" dirty="0">
                <a:latin typeface="Courier"/>
              </a:rPr>
              <a:t>label and top terms</a:t>
            </a:r>
            <a:r>
              <a:rPr lang="en-US" sz="1800" b="1" dirty="0">
                <a:latin typeface="Courier"/>
              </a:rPr>
              <a:t>                                            </a:t>
            </a:r>
            <a:r>
              <a:rPr lang="en-US" sz="1800" dirty="0">
                <a:latin typeface="Courier"/>
              </a:rPr>
              <a:t>
</a:t>
            </a:r>
            <a:r>
              <a:rPr lang="en-US" sz="1800" b="1" dirty="0">
                <a:latin typeface="Courier"/>
              </a:rPr>
              <a:t>1</a:t>
            </a:r>
            <a:r>
              <a:rPr lang="en-US" sz="1800" dirty="0">
                <a:latin typeface="Courier"/>
              </a:rPr>
              <a:t> National Outbreak Summaries                      </a:t>
            </a:r>
          </a:p>
          <a:p>
            <a:pPr marL="971550" lvl="1" indent="-285750"/>
            <a:r>
              <a:rPr lang="en-US" sz="1600" dirty="0">
                <a:latin typeface="Courier"/>
              </a:rPr>
              <a:t>measles, unite… Nation…</a:t>
            </a:r>
          </a:p>
          <a:p>
            <a:pPr indent="0">
              <a:buNone/>
            </a:pPr>
            <a:r>
              <a:rPr lang="en-US" sz="1800" b="1" dirty="0">
                <a:latin typeface="Courier"/>
              </a:rPr>
              <a:t>2</a:t>
            </a:r>
            <a:r>
              <a:rPr lang="en-US" sz="1800" dirty="0">
                <a:latin typeface="Courier"/>
              </a:rPr>
              <a:t> Vaccination Guidance and Public Health Resources</a:t>
            </a:r>
          </a:p>
          <a:p>
            <a:pPr marL="971550" lvl="1" indent="-285750"/>
            <a:r>
              <a:rPr lang="en-US" sz="1600" dirty="0">
                <a:latin typeface="Courier"/>
              </a:rPr>
              <a:t> measles, vaccine Public</a:t>
            </a:r>
          </a:p>
          <a:p>
            <a:pPr indent="0">
              <a:buNone/>
            </a:pPr>
            <a:r>
              <a:rPr lang="en-US" sz="1800" b="1" dirty="0">
                <a:latin typeface="Courier"/>
              </a:rPr>
              <a:t>3</a:t>
            </a:r>
            <a:r>
              <a:rPr lang="en-US" sz="1800" dirty="0">
                <a:latin typeface="Courier"/>
              </a:rPr>
              <a:t> CDC Surveillance and MMWR Reporting              </a:t>
            </a:r>
          </a:p>
          <a:p>
            <a:pPr marL="971550" lvl="1" indent="-285750"/>
            <a:r>
              <a:rPr lang="en-US" sz="1600" dirty="0">
                <a:latin typeface="Courier"/>
              </a:rPr>
              <a:t>measles, mmwr,… Survei…</a:t>
            </a:r>
          </a:p>
          <a:p>
            <a:pPr indent="0">
              <a:buNone/>
            </a:pPr>
            <a:r>
              <a:rPr lang="en-US" sz="1800" b="1" dirty="0">
                <a:latin typeface="Courier"/>
              </a:rPr>
              <a:t>4</a:t>
            </a:r>
            <a:r>
              <a:rPr lang="en-US" sz="1800" dirty="0">
                <a:latin typeface="Courier"/>
              </a:rPr>
              <a:t> State Level Outbreaks and Vaccination Status     </a:t>
            </a:r>
          </a:p>
          <a:p>
            <a:pPr marL="971550" lvl="1" indent="-285750"/>
            <a:r>
              <a:rPr lang="en-US" sz="1600" dirty="0">
                <a:latin typeface="Courier"/>
              </a:rPr>
              <a:t>measles, york,… State …</a:t>
            </a:r>
          </a:p>
        </p:txBody>
      </p:sp>
      <p:pic>
        <p:nvPicPr>
          <p:cNvPr id="5" name="Picture 4">
            <a:extLst>
              <a:ext uri="{FF2B5EF4-FFF2-40B4-BE49-F238E27FC236}">
                <a16:creationId xmlns:a16="http://schemas.microsoft.com/office/drawing/2014/main" id="{77B7EBB8-375A-5069-B4DA-A465F57E5559}"/>
              </a:ext>
            </a:extLst>
          </p:cNvPr>
          <p:cNvPicPr>
            <a:picLocks noChangeAspect="1"/>
          </p:cNvPicPr>
          <p:nvPr/>
        </p:nvPicPr>
        <p:blipFill>
          <a:blip r:embed="rId2"/>
          <a:stretch>
            <a:fillRect/>
          </a:stretch>
        </p:blipFill>
        <p:spPr>
          <a:xfrm>
            <a:off x="4700338" y="1459832"/>
            <a:ext cx="6691562" cy="4674750"/>
          </a:xfrm>
          <a:prstGeom prst="rect">
            <a:avLst/>
          </a:prstGeom>
        </p:spPr>
      </p:pic>
    </p:spTree>
    <p:extLst>
      <p:ext uri="{BB962C8B-B14F-4D97-AF65-F5344CB8AC3E}">
        <p14:creationId xmlns:p14="http://schemas.microsoft.com/office/powerpoint/2010/main" val="3141270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6B3CA38D-7BB0-4D35-BE00-0F48766027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0753502-CC60-6A20-EF27-8181291DAB90}"/>
              </a:ext>
            </a:extLst>
          </p:cNvPr>
          <p:cNvSpPr>
            <a:spLocks noGrp="1"/>
          </p:cNvSpPr>
          <p:nvPr>
            <p:ph type="title"/>
          </p:nvPr>
        </p:nvSpPr>
        <p:spPr>
          <a:xfrm>
            <a:off x="700635" y="913218"/>
            <a:ext cx="10691265" cy="883276"/>
          </a:xfrm>
        </p:spPr>
        <p:txBody>
          <a:bodyPr vert="horz" lIns="91440" tIns="45720" rIns="91440" bIns="45720" rtlCol="0" anchor="t">
            <a:normAutofit/>
          </a:bodyPr>
          <a:lstStyle/>
          <a:p>
            <a:pPr algn="ctr"/>
            <a:r>
              <a:rPr lang="en-US" sz="2600" b="1" dirty="0">
                <a:latin typeface="Times New Roman" panose="02020603050405020304" pitchFamily="18" charset="0"/>
                <a:cs typeface="Times New Roman" panose="02020603050405020304" pitchFamily="18" charset="0"/>
              </a:rPr>
              <a:t>Results</a:t>
            </a:r>
          </a:p>
        </p:txBody>
      </p:sp>
      <p:sp>
        <p:nvSpPr>
          <p:cNvPr id="26" name="TextBox 25">
            <a:extLst>
              <a:ext uri="{FF2B5EF4-FFF2-40B4-BE49-F238E27FC236}">
                <a16:creationId xmlns:a16="http://schemas.microsoft.com/office/drawing/2014/main" id="{04B01660-A041-ECC0-57DC-AE75E54094DB}"/>
              </a:ext>
            </a:extLst>
          </p:cNvPr>
          <p:cNvSpPr txBox="1"/>
          <p:nvPr/>
        </p:nvSpPr>
        <p:spPr>
          <a:xfrm>
            <a:off x="700635" y="1637119"/>
            <a:ext cx="10691265" cy="4307663"/>
          </a:xfrm>
          <a:prstGeom prst="rect">
            <a:avLst/>
          </a:prstGeom>
        </p:spPr>
        <p:txBody>
          <a:bodyPr vert="horz" lIns="91440" tIns="45720" rIns="91440" bIns="45720" rtlCol="0">
            <a:normAutofit/>
          </a:bodyPr>
          <a:lstStyle/>
          <a:p>
            <a:pPr marL="342900" lvl="0" indent="-342900">
              <a:lnSpc>
                <a:spcPct val="110000"/>
              </a:lnSpc>
              <a:spcAft>
                <a:spcPts val="6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Top ten states mentioned in the CDC measles outbreak text as shown graph above were NY, WA, CA, OH, NJ, FL, AZ, TX, IL and TN. With New York being significantly higher than other states.</a:t>
            </a:r>
          </a:p>
          <a:p>
            <a:pPr lvl="0">
              <a:lnSpc>
                <a:spcPct val="110000"/>
              </a:lnSpc>
              <a:spcAft>
                <a:spcPts val="600"/>
              </a:spcAft>
            </a:pPr>
            <a:endParaRPr lang="en-US" sz="2000" dirty="0">
              <a:latin typeface="Times New Roman" panose="02020603050405020304" pitchFamily="18" charset="0"/>
              <a:cs typeface="Times New Roman" panose="02020603050405020304" pitchFamily="18" charset="0"/>
            </a:endParaRPr>
          </a:p>
          <a:p>
            <a:pPr marL="342900" lvl="0" indent="-342900">
              <a:lnSpc>
                <a:spcPct val="110000"/>
              </a:lnSpc>
              <a:spcAft>
                <a:spcPts val="6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Topic modeling identified four themes: national outbreak summaries, vaccination and public health guidance, surveillance reporting, and state specific outbreak details.</a:t>
            </a:r>
          </a:p>
          <a:p>
            <a:pPr lvl="0">
              <a:lnSpc>
                <a:spcPct val="110000"/>
              </a:lnSpc>
              <a:spcAft>
                <a:spcPts val="600"/>
              </a:spcAft>
            </a:pPr>
            <a:endParaRPr lang="en-US" sz="2000" dirty="0">
              <a:latin typeface="Times New Roman" panose="02020603050405020304" pitchFamily="18" charset="0"/>
              <a:cs typeface="Times New Roman" panose="02020603050405020304" pitchFamily="18" charset="0"/>
            </a:endParaRPr>
          </a:p>
          <a:p>
            <a:pPr marL="342900" lvl="0" indent="-342900">
              <a:lnSpc>
                <a:spcPct val="110000"/>
              </a:lnSpc>
              <a:spcAft>
                <a:spcPts val="600"/>
              </a:spcAf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Population showed a strong relationship with CDC mention frequency, while education level showed a weak or negligible relationship.</a:t>
            </a:r>
          </a:p>
        </p:txBody>
      </p:sp>
      <p:cxnSp>
        <p:nvCxnSpPr>
          <p:cNvPr id="15" name="Straight Connector 14">
            <a:extLst>
              <a:ext uri="{FF2B5EF4-FFF2-40B4-BE49-F238E27FC236}">
                <a16:creationId xmlns:a16="http://schemas.microsoft.com/office/drawing/2014/main" id="{4514FD1B-A0BF-4C73-A68E-4B1F7299F6A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B100A6-1EBC-40AB-BB7E-26807F3CFC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5623576"/>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997</TotalTime>
  <Words>278</Words>
  <Application>Microsoft Macintosh PowerPoint</Application>
  <PresentationFormat>Widescreen</PresentationFormat>
  <Paragraphs>27</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Aptos</vt:lpstr>
      <vt:lpstr>Arial</vt:lpstr>
      <vt:lpstr>Calisto MT</vt:lpstr>
      <vt:lpstr>Courier</vt:lpstr>
      <vt:lpstr>Times New Roman</vt:lpstr>
      <vt:lpstr>Univers Condensed</vt:lpstr>
      <vt:lpstr>ChronicleVTI</vt:lpstr>
      <vt:lpstr>A Text-Based Analysis of Measles Outbreak      Narratives iN CDC (Centers for Disease      Control and Prevention) Reports and Their Associations With State Demographic Patterns</vt:lpstr>
      <vt:lpstr> QUESTIONS</vt:lpstr>
      <vt:lpstr>METHODOLOGY AND ANALYSIS</vt:lpstr>
      <vt:lpstr>PowerPoint Presentation</vt:lpstr>
      <vt:lpstr>    OUTBREAK MENTIONS vs DEMOGRAPHICS </vt:lpstr>
      <vt:lpstr>Topic Modeling (output)</vt:lpstr>
      <vt:lpstr>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Adeniyi, Kehinde</dc:creator>
  <cp:lastModifiedBy>Adeniyi, Kehinde</cp:lastModifiedBy>
  <cp:revision>88</cp:revision>
  <dcterms:created xsi:type="dcterms:W3CDTF">2025-03-10T16:01:48Z</dcterms:created>
  <dcterms:modified xsi:type="dcterms:W3CDTF">2025-12-03T02:55:59Z</dcterms:modified>
</cp:coreProperties>
</file>